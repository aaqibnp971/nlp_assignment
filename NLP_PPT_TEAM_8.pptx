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6C405-609C-4E7F-93AE-74EA4A9399AA}" v="1" dt="2026-04-23T05:25:40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yaan ali" userId="8d3bff1212000f02" providerId="LiveId" clId="{7D908D30-A753-48E1-A9D8-59098FF2CC83}"/>
    <pc:docChg chg="undo custSel modSld">
      <pc:chgData name="zayaan ali" userId="8d3bff1212000f02" providerId="LiveId" clId="{7D908D30-A753-48E1-A9D8-59098FF2CC83}" dt="2026-04-23T05:30:42.503" v="57" actId="1076"/>
      <pc:docMkLst>
        <pc:docMk/>
      </pc:docMkLst>
      <pc:sldChg chg="modSp mod">
        <pc:chgData name="zayaan ali" userId="8d3bff1212000f02" providerId="LiveId" clId="{7D908D30-A753-48E1-A9D8-59098FF2CC83}" dt="2026-04-23T05:27:07.058" v="23" actId="1076"/>
        <pc:sldMkLst>
          <pc:docMk/>
          <pc:sldMk cId="0" sldId="257"/>
        </pc:sldMkLst>
        <pc:spChg chg="mod">
          <ac:chgData name="zayaan ali" userId="8d3bff1212000f02" providerId="LiveId" clId="{7D908D30-A753-48E1-A9D8-59098FF2CC83}" dt="2026-04-23T05:27:07.058" v="23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04.599" v="22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04.599" v="22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04.599" v="22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04.599" v="22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04.599" v="22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04.599" v="22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04.599" v="22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04.599" v="22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04.599" v="22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04.599" v="22" actId="1076"/>
          <ac:spMkLst>
            <pc:docMk/>
            <pc:sldMk cId="0" sldId="257"/>
            <ac:spMk id="28" creationId="{00000000-0000-0000-0000-000000000000}"/>
          </ac:spMkLst>
        </pc:spChg>
      </pc:sldChg>
      <pc:sldChg chg="modSp mod">
        <pc:chgData name="zayaan ali" userId="8d3bff1212000f02" providerId="LiveId" clId="{7D908D30-A753-48E1-A9D8-59098FF2CC83}" dt="2026-04-23T05:27:29.188" v="28" actId="1076"/>
        <pc:sldMkLst>
          <pc:docMk/>
          <pc:sldMk cId="0" sldId="259"/>
        </pc:sldMkLst>
        <pc:spChg chg="mod">
          <ac:chgData name="zayaan ali" userId="8d3bff1212000f02" providerId="LiveId" clId="{7D908D30-A753-48E1-A9D8-59098FF2CC83}" dt="2026-04-23T05:27:29.188" v="28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13.459" v="25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26.965" v="27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26.965" v="27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26.965" v="27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26.965" v="27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26.965" v="27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26.965" v="27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26.965" v="27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26.965" v="27" actId="107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26.965" v="27" actId="1076"/>
          <ac:spMkLst>
            <pc:docMk/>
            <pc:sldMk cId="0" sldId="259"/>
            <ac:spMk id="34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26.965" v="27" actId="1076"/>
          <ac:spMkLst>
            <pc:docMk/>
            <pc:sldMk cId="0" sldId="259"/>
            <ac:spMk id="36" creationId="{00000000-0000-0000-0000-000000000000}"/>
          </ac:spMkLst>
        </pc:spChg>
      </pc:sldChg>
      <pc:sldChg chg="modSp mod">
        <pc:chgData name="zayaan ali" userId="8d3bff1212000f02" providerId="LiveId" clId="{7D908D30-A753-48E1-A9D8-59098FF2CC83}" dt="2026-04-23T05:27:35.745" v="29" actId="1076"/>
        <pc:sldMkLst>
          <pc:docMk/>
          <pc:sldMk cId="0" sldId="260"/>
        </pc:sldMkLst>
        <pc:spChg chg="mod">
          <ac:chgData name="zayaan ali" userId="8d3bff1212000f02" providerId="LiveId" clId="{7D908D30-A753-48E1-A9D8-59098FF2CC83}" dt="2026-04-23T05:27:35.745" v="29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zayaan ali" userId="8d3bff1212000f02" providerId="LiveId" clId="{7D908D30-A753-48E1-A9D8-59098FF2CC83}" dt="2026-04-23T05:27:39.461" v="30" actId="1076"/>
        <pc:sldMkLst>
          <pc:docMk/>
          <pc:sldMk cId="0" sldId="261"/>
        </pc:sldMkLst>
        <pc:spChg chg="mod">
          <ac:chgData name="zayaan ali" userId="8d3bff1212000f02" providerId="LiveId" clId="{7D908D30-A753-48E1-A9D8-59098FF2CC83}" dt="2026-04-23T05:27:39.461" v="30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zayaan ali" userId="8d3bff1212000f02" providerId="LiveId" clId="{7D908D30-A753-48E1-A9D8-59098FF2CC83}" dt="2026-04-23T05:28:07.034" v="37" actId="1076"/>
        <pc:sldMkLst>
          <pc:docMk/>
          <pc:sldMk cId="0" sldId="262"/>
        </pc:sldMkLst>
        <pc:spChg chg="mod">
          <ac:chgData name="zayaan ali" userId="8d3bff1212000f02" providerId="LiveId" clId="{7D908D30-A753-48E1-A9D8-59098FF2CC83}" dt="2026-04-23T05:28:07.034" v="37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8:04.729" v="36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8:02.828" v="35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8:02.828" v="35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8:02.828" v="35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8:02.828" v="35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8:02.828" v="35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55.559" v="34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8:02.828" v="35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7:55.559" v="34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8:02.828" v="35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8:02.828" v="35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8:02.828" v="35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8:02.828" v="35" actId="1076"/>
          <ac:spMkLst>
            <pc:docMk/>
            <pc:sldMk cId="0" sldId="262"/>
            <ac:spMk id="26" creationId="{00000000-0000-0000-0000-000000000000}"/>
          </ac:spMkLst>
        </pc:spChg>
      </pc:sldChg>
      <pc:sldChg chg="modSp mod">
        <pc:chgData name="zayaan ali" userId="8d3bff1212000f02" providerId="LiveId" clId="{7D908D30-A753-48E1-A9D8-59098FF2CC83}" dt="2026-04-23T05:28:55.869" v="40" actId="1076"/>
        <pc:sldMkLst>
          <pc:docMk/>
          <pc:sldMk cId="0" sldId="263"/>
        </pc:sldMkLst>
        <pc:spChg chg="mod">
          <ac:chgData name="zayaan ali" userId="8d3bff1212000f02" providerId="LiveId" clId="{7D908D30-A753-48E1-A9D8-59098FF2CC83}" dt="2026-04-23T05:28:55.869" v="40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8:51.202" v="39" actId="1076"/>
          <ac:spMkLst>
            <pc:docMk/>
            <pc:sldMk cId="0" sldId="263"/>
            <ac:spMk id="5" creationId="{00000000-0000-0000-0000-000000000000}"/>
          </ac:spMkLst>
        </pc:spChg>
        <pc:graphicFrameChg chg="mod">
          <ac:chgData name="zayaan ali" userId="8d3bff1212000f02" providerId="LiveId" clId="{7D908D30-A753-48E1-A9D8-59098FF2CC83}" dt="2026-04-23T05:28:36.302" v="38" actId="1076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zayaan ali" userId="8d3bff1212000f02" providerId="LiveId" clId="{7D908D30-A753-48E1-A9D8-59098FF2CC83}" dt="2026-04-23T05:29:32.546" v="45" actId="1076"/>
        <pc:sldMkLst>
          <pc:docMk/>
          <pc:sldMk cId="0" sldId="264"/>
        </pc:sldMkLst>
        <pc:spChg chg="mod">
          <ac:chgData name="zayaan ali" userId="8d3bff1212000f02" providerId="LiveId" clId="{7D908D30-A753-48E1-A9D8-59098FF2CC83}" dt="2026-04-23T05:29:11.522" v="41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9:23.103" v="42" actId="1076"/>
          <ac:spMkLst>
            <pc:docMk/>
            <pc:sldMk cId="0" sldId="264"/>
            <ac:spMk id="4" creationId="{00000000-0000-0000-0000-000000000000}"/>
          </ac:spMkLst>
        </pc:spChg>
        <pc:graphicFrameChg chg="mod modGraphic">
          <ac:chgData name="zayaan ali" userId="8d3bff1212000f02" providerId="LiveId" clId="{7D908D30-A753-48E1-A9D8-59098FF2CC83}" dt="2026-04-23T05:29:32.546" v="45" actId="1076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zayaan ali" userId="8d3bff1212000f02" providerId="LiveId" clId="{7D908D30-A753-48E1-A9D8-59098FF2CC83}" dt="2026-04-23T05:29:39.518" v="47" actId="1076"/>
        <pc:sldMkLst>
          <pc:docMk/>
          <pc:sldMk cId="0" sldId="265"/>
        </pc:sldMkLst>
        <pc:spChg chg="mod">
          <ac:chgData name="zayaan ali" userId="8d3bff1212000f02" providerId="LiveId" clId="{7D908D30-A753-48E1-A9D8-59098FF2CC83}" dt="2026-04-23T05:29:35.963" v="46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9:39.518" v="47" actId="107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zayaan ali" userId="8d3bff1212000f02" providerId="LiveId" clId="{7D908D30-A753-48E1-A9D8-59098FF2CC83}" dt="2026-04-23T05:29:48.426" v="49" actId="1076"/>
        <pc:sldMkLst>
          <pc:docMk/>
          <pc:sldMk cId="0" sldId="266"/>
        </pc:sldMkLst>
        <pc:spChg chg="mod">
          <ac:chgData name="zayaan ali" userId="8d3bff1212000f02" providerId="LiveId" clId="{7D908D30-A753-48E1-A9D8-59098FF2CC83}" dt="2026-04-23T05:29:44.363" v="48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9:48.426" v="49" actId="107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zayaan ali" userId="8d3bff1212000f02" providerId="LiveId" clId="{7D908D30-A753-48E1-A9D8-59098FF2CC83}" dt="2026-04-23T05:30:38.689" v="56" actId="1076"/>
        <pc:sldMkLst>
          <pc:docMk/>
          <pc:sldMk cId="0" sldId="267"/>
        </pc:sldMkLst>
        <pc:spChg chg="mod">
          <ac:chgData name="zayaan ali" userId="8d3bff1212000f02" providerId="LiveId" clId="{7D908D30-A753-48E1-A9D8-59098FF2CC83}" dt="2026-04-23T05:30:15.146" v="50" actId="1076"/>
          <ac:spMkLst>
            <pc:docMk/>
            <pc:sldMk cId="0" sldId="267"/>
            <ac:spMk id="3" creationId="{00000000-0000-0000-0000-000000000000}"/>
          </ac:spMkLst>
        </pc:spChg>
        <pc:spChg chg="mod">
          <ac:chgData name="zayaan ali" userId="8d3bff1212000f02" providerId="LiveId" clId="{7D908D30-A753-48E1-A9D8-59098FF2CC83}" dt="2026-04-23T05:30:35.112" v="55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zayaan ali" userId="8d3bff1212000f02" providerId="LiveId" clId="{7D908D30-A753-48E1-A9D8-59098FF2CC83}" dt="2026-04-23T05:30:35.112" v="55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zayaan ali" userId="8d3bff1212000f02" providerId="LiveId" clId="{7D908D30-A753-48E1-A9D8-59098FF2CC83}" dt="2026-04-23T05:30:35.112" v="55" actId="1076"/>
          <ac:spMkLst>
            <pc:docMk/>
            <pc:sldMk cId="0" sldId="267"/>
            <ac:spMk id="7" creationId="{00000000-0000-0000-0000-000000000000}"/>
          </ac:spMkLst>
        </pc:spChg>
        <pc:graphicFrameChg chg="mod modGraphic">
          <ac:chgData name="zayaan ali" userId="8d3bff1212000f02" providerId="LiveId" clId="{7D908D30-A753-48E1-A9D8-59098FF2CC83}" dt="2026-04-23T05:30:38.689" v="56" actId="1076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zayaan ali" userId="8d3bff1212000f02" providerId="LiveId" clId="{7D908D30-A753-48E1-A9D8-59098FF2CC83}" dt="2026-04-23T05:30:42.503" v="57" actId="1076"/>
        <pc:sldMkLst>
          <pc:docMk/>
          <pc:sldMk cId="0" sldId="268"/>
        </pc:sldMkLst>
        <pc:spChg chg="mod">
          <ac:chgData name="zayaan ali" userId="8d3bff1212000f02" providerId="LiveId" clId="{7D908D30-A753-48E1-A9D8-59098FF2CC83}" dt="2026-04-23T05:30:42.503" v="57" actId="1076"/>
          <ac:spMkLst>
            <pc:docMk/>
            <pc:sldMk cId="0" sldId="268"/>
            <ac:spMk id="3" creationId="{00000000-0000-0000-0000-000000000000}"/>
          </ac:spMkLst>
        </pc:spChg>
      </pc:sldChg>
      <pc:sldChg chg="delSp modSp mod">
        <pc:chgData name="zayaan ali" userId="8d3bff1212000f02" providerId="LiveId" clId="{7D908D30-A753-48E1-A9D8-59098FF2CC83}" dt="2026-04-23T05:26:37.385" v="21" actId="1076"/>
        <pc:sldMkLst>
          <pc:docMk/>
          <pc:sldMk cId="0" sldId="270"/>
        </pc:sldMkLst>
        <pc:spChg chg="mod">
          <ac:chgData name="zayaan ali" userId="8d3bff1212000f02" providerId="LiveId" clId="{7D908D30-A753-48E1-A9D8-59098FF2CC83}" dt="2026-04-23T05:26:03.423" v="13" actId="255"/>
          <ac:spMkLst>
            <pc:docMk/>
            <pc:sldMk cId="0" sldId="270"/>
            <ac:spMk id="4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6:17.132" v="15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6:33.449" v="20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6:37.385" v="21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5:46.064" v="12" actId="20577"/>
          <ac:spMkLst>
            <pc:docMk/>
            <pc:sldMk cId="0" sldId="270"/>
            <ac:spMk id="8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5:26.942" v="5" actId="20577"/>
          <ac:spMkLst>
            <pc:docMk/>
            <pc:sldMk cId="0" sldId="270"/>
            <ac:spMk id="9" creationId="{00000000-0000-0000-0000-000000000000}"/>
          </ac:spMkLst>
        </pc:spChg>
        <pc:spChg chg="del">
          <ac:chgData name="zayaan ali" userId="8d3bff1212000f02" providerId="LiveId" clId="{7D908D30-A753-48E1-A9D8-59098FF2CC83}" dt="2026-04-23T05:25:23.001" v="4" actId="478"/>
          <ac:spMkLst>
            <pc:docMk/>
            <pc:sldMk cId="0" sldId="270"/>
            <ac:spMk id="10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5:28.140" v="6" actId="20577"/>
          <ac:spMkLst>
            <pc:docMk/>
            <pc:sldMk cId="0" sldId="270"/>
            <ac:spMk id="11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5:29.502" v="7" actId="20577"/>
          <ac:spMkLst>
            <pc:docMk/>
            <pc:sldMk cId="0" sldId="270"/>
            <ac:spMk id="12" creationId="{00000000-0000-0000-0000-000000000000}"/>
          </ac:spMkLst>
        </pc:spChg>
        <pc:spChg chg="mod">
          <ac:chgData name="zayaan ali" userId="8d3bff1212000f02" providerId="LiveId" clId="{7D908D30-A753-48E1-A9D8-59098FF2CC83}" dt="2026-04-23T05:25:30.552" v="8" actId="20577"/>
          <ac:spMkLst>
            <pc:docMk/>
            <pc:sldMk cId="0" sldId="270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9254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Detection in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Language Models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286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A: Dynamic Uncertainty-Aware Attribution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834640"/>
            <a:ext cx="54864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274320" y="2971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F429 — Natural Language 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291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Pilani, Dubai Campus  |  Semester II 2025–26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Zayaan  ·  Ridhwan  ·  Aaqib  ·  Mariah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251960"/>
            <a:ext cx="1645920" cy="68580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731520" y="42793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626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4251960"/>
            <a:ext cx="1645920" cy="68580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2697480" y="42793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97480" y="4626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4251960"/>
            <a:ext cx="1645920" cy="68580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4663440" y="42793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4626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Tested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4251960"/>
            <a:ext cx="1645920" cy="68580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6629400" y="42793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4626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1801237" y="799815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Hallucination in RAG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31006" y="1586199"/>
            <a:ext cx="1737360" cy="82296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231006" y="1586199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68366" y="1951959"/>
            <a:ext cx="4572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2242686" y="1586199"/>
            <a:ext cx="1737360" cy="82296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2242686" y="1586199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80046" y="1951959"/>
            <a:ext cx="4572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4254366" y="1586199"/>
            <a:ext cx="1737360" cy="82296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254366" y="1586199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91726" y="1951959"/>
            <a:ext cx="4572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6266046" y="1586199"/>
            <a:ext cx="1737360" cy="822960"/>
          </a:xfrm>
          <a:prstGeom prst="rect">
            <a:avLst/>
          </a:prstGeom>
          <a:solidFill>
            <a:srgbClr val="E53935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266046" y="1586199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(may hallucinate)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1006" y="2592039"/>
            <a:ext cx="8778240" cy="91440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413886" y="2637759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Research Question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3886" y="2893791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changes in predictive uncertainty induced by retrieved context serve as a reliable signal of faithfulness or hallucination?"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1006" y="3643599"/>
            <a:ext cx="2743200" cy="1097280"/>
          </a:xfrm>
          <a:prstGeom prst="rect">
            <a:avLst/>
          </a:prstGeom>
          <a:solidFill>
            <a:srgbClr val="1A3270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231006" y="3643599"/>
            <a:ext cx="2743200" cy="2560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231006" y="3643599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2446" y="3936207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conflicts directly with retrieved context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21094" y="3643599"/>
            <a:ext cx="2743200" cy="109728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3221094" y="3643599"/>
            <a:ext cx="2743200" cy="2560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3221094" y="3643599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2534" y="3936207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introduces information not present in context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1182" y="3643599"/>
            <a:ext cx="2743200" cy="109728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Shape 25"/>
          <p:cNvSpPr/>
          <p:nvPr/>
        </p:nvSpPr>
        <p:spPr>
          <a:xfrm>
            <a:off x="6211182" y="3643599"/>
            <a:ext cx="274320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6211182" y="3643599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2622" y="3936207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entirely baseless information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06240" cy="365760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0624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RAGTruth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dataset for all experiments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test samples (250 hallucinated, 250 clean)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train samples (separate split)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331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hallucination annotations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697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Contradictory / Unsupported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LLMs: GPT-4, GPT-3.5, Llama-2 (7B/13B/70B), Mistral-7B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429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QA, Summarization, Data2Text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794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wandb/RAGTruth-processed (HuggingFace)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822960"/>
            <a:ext cx="4206240" cy="365760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20624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484632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HaluEval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transfer experiment (Exp 4)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600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samples (100 hallucinated, 100 clean)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965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hallucination labels: Yes / No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331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subset — question, context, answer format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697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transfer — no retraining applied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063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pminervini/HaluEval (HuggingFace)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429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test generalization of our metric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794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0.925 AUROC (improved from RAGTruth)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2737513" y="6506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298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1: Without Context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1920240" cy="64008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Answer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865376"/>
            <a:ext cx="2286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2423160" y="1572768"/>
            <a:ext cx="1920240" cy="64008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2423160" y="15727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context)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865376"/>
            <a:ext cx="2286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4572000" y="1572768"/>
            <a:ext cx="1920240" cy="64008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4572000" y="15727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Probs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P_no_ctx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865376"/>
            <a:ext cx="2286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6720840" y="1572768"/>
            <a:ext cx="1920240" cy="64008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6720840" y="15727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H(P_no)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395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2: With Context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670048"/>
            <a:ext cx="1920240" cy="64008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274320" y="26700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2962656"/>
            <a:ext cx="2286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2423160" y="2670048"/>
            <a:ext cx="1920240" cy="64008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2423160" y="26700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context)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2962656"/>
            <a:ext cx="2286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4572000" y="2670048"/>
            <a:ext cx="1920240" cy="64008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4572000" y="26700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Probs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P_with_ctx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2962656"/>
            <a:ext cx="2286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6720840" y="2670048"/>
            <a:ext cx="1920240" cy="64008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6720840" y="26700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H(P_with)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465576"/>
            <a:ext cx="5303520" cy="1325880"/>
          </a:xfrm>
          <a:prstGeom prst="rect">
            <a:avLst/>
          </a:prstGeom>
          <a:solidFill>
            <a:srgbClr val="1A327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365760" y="34930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Uncertainty Metrics Computed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37856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Only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0" y="37856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 (IG)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1696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26080" y="41696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Drop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3465576"/>
            <a:ext cx="3200400" cy="132588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5943600" y="34930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3785616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300 train samples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0.734 on 500 test samples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77840" y="4059936"/>
            <a:ext cx="27432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2339377" y="239275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Entropy &amp; Information Gain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06240" cy="402336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06240" cy="3200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1: Entropy Only (Baseline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uncertain the model is about the next token without any retrieved context.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393192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H(p) = -SUM [ p(x) * log(p(x)) 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21868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entropy = model is confused (uncertain)
Low entropy = model is confident
</a:t>
            </a: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on test set: 0.5806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206240" cy="4023360"/>
          </a:xfrm>
          <a:prstGeom prst="rect">
            <a:avLst/>
          </a:prstGeom>
          <a:solidFill>
            <a:srgbClr val="1A3270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4754880" y="822960"/>
            <a:ext cx="4206240" cy="3200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4846320" y="822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2: Information Gain (IG)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4813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entropy DROPS when retrieved context is added. High IG = context helped = faithful answer.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029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331720"/>
            <a:ext cx="393192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4892040" y="2331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IG(t) = H(p_no_ctx)(t) - H(p_with_ctx)(t)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21868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IG = context reduced uncertainty (faithful)
Negative IG = context increased confusion (hallucination)
</a:t>
            </a: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on test set: 0.2963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2129370" y="21031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KL Divergence &amp; Confidence Drop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06240" cy="402336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0624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3: KL Divergence ★ STRONGEST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DIFFERENT the entire probability distribution is between the no-context and with-context runs at each token.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04288"/>
            <a:ext cx="3931920" cy="530352"/>
          </a:xfrm>
          <a:prstGeom prst="rect">
            <a:avLst/>
          </a:prstGeom>
          <a:solidFill>
            <a:srgbClr val="0D1B4B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20040" y="230428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KL(P||Q) = SUM[P(x)*log(P(x)/Q(x))]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907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evaluator WILL ask you to show this code!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200400"/>
            <a:ext cx="393192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320040" y="32004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 = np.sum(kl_div(p_no, p_with))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kl_divergence = np.mean(kl_per_token)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0.7235 — our best single metric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206240" cy="402336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4754880" y="822960"/>
            <a:ext cx="4206240" cy="3200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4846320" y="822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4: Confidence Drop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48132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model's MAXIMUM token probability changes when context is added. Captures whether context made the model more or less confident.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1214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423160"/>
            <a:ext cx="393192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4892040" y="2423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ConfDrop = max(P_no) - max(P_with)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3101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drop = model less confident with context
Negative drop = context boosted confidence
</a:t>
            </a: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on test set: 0.2859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2295626" y="525605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Hallucination Score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1762" y="9784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all 4 metrics into one score using Logistic Regression trained on a separate 300-sample training split: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3504" y="1691640"/>
            <a:ext cx="1920240" cy="777240"/>
          </a:xfrm>
          <a:prstGeom prst="rect">
            <a:avLst/>
          </a:prstGeom>
          <a:solidFill>
            <a:srgbClr val="1A3270"/>
          </a:solidFill>
          <a:ln w="12700">
            <a:solidFill>
              <a:srgbClr val="90A4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143504" y="17190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Only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3504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0.581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03624" y="2514600"/>
            <a:ext cx="64008" cy="36576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2356352" y="1691640"/>
            <a:ext cx="1920240" cy="77724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2356352" y="17190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56352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0.296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6472" y="2514600"/>
            <a:ext cx="64008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4569200" y="1691640"/>
            <a:ext cx="1920240" cy="77724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4569200" y="17190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6920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0.724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29320" y="2514600"/>
            <a:ext cx="64008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6782048" y="1691640"/>
            <a:ext cx="1920240" cy="77724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6782048" y="17190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Drop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82048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0.286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42168" y="2514600"/>
            <a:ext cx="64008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143504" y="2514600"/>
            <a:ext cx="8778240" cy="6400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4468616" y="2514600"/>
            <a:ext cx="64008" cy="3657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1332224" y="2880360"/>
            <a:ext cx="6400800" cy="1371600"/>
          </a:xfrm>
          <a:prstGeom prst="rect">
            <a:avLst/>
          </a:prstGeom>
          <a:solidFill>
            <a:srgbClr val="1A3270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1423664" y="29260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Composite (Logistic Regression)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23664" y="327355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0.7345  |  F1: 0.6960  |  Spearman: 0.4062  |  ECE: 0.1015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23664" y="3611880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Bootstrap CI: [0.688 – 0.776]  |  n=500 from RAGTruth test split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4944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both baselines: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63744" y="437083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Only: 0.5806  |  SelfCheckGPT: 0.6805  |  Our Composite: 0.7345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1604356" y="3931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1 &amp; 2 — Composite AUROC on RAGTruth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100133"/>
              </p:ext>
            </p:extLst>
          </p:nvPr>
        </p:nvGraphicFramePr>
        <p:xfrm>
          <a:off x="457200" y="896112"/>
          <a:ext cx="8412480" cy="35661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/ Composite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 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 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 only (Baseline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[0.529–0.629]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SelfCheckGPT (Baseline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[0.636–0.724]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Information Gain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[0.253–0.341]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-0.3529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KL divergence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[0.674–0.767]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Confidence drop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[0.240–0.332]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-0.3708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Semantic entropy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[0.230–0.319]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-0.3924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composite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[0.689–0.779]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39757" y="4522846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n=500 (250 hallucinated, 250 clean) | RAGTruth test split | Bootstrap CI: 1000 iterations | Trained on separate n=300 train split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82880" y="47091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Reference: SelfCheckGPT ~0.65 | Semantic Entropy ~0.70 | LUMINA supervised ~0.87 | Target ≥0.75 for full marks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9194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2470630" y="3429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 — Temporal Precedence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our metrics show a signal BEFORE the hallucination occurs? We use real character-level span positions from RAGTruth (n=141 samples).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510315"/>
              </p:ext>
            </p:extLst>
          </p:nvPr>
        </p:nvGraphicFramePr>
        <p:xfrm>
          <a:off x="800865" y="1165860"/>
          <a:ext cx="7542269" cy="2286000"/>
        </p:xfrm>
        <a:graphic>
          <a:graphicData uri="http://schemas.openxmlformats.org/drawingml/2006/table">
            <a:tbl>
              <a:tblPr/>
              <a:tblGrid>
                <a:gridCol w="1231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3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5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13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3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 Divergence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 Drop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t−3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10.7348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2.6657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t−2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9.1889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-0.0768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t−1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2.8072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-0.2390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(onset)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10.3816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-0.2042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2.5651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-0.1366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611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645920" y="3611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shows elevated signal at t−3 (10.73) before hallucination onset — suggesting pre-generation uncertainty elevation.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4023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920240" y="40233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U: IG (t−2 vs t+1) p=0.1117 | KL (t−3 vs t+1) p=0.6371 | Line plot saved: outputs/experiment3_temporal_real.png</a:t>
            </a:r>
            <a:endParaRPr lang="en-US" sz="900" dirty="0"/>
          </a:p>
        </p:txBody>
      </p:sp>
      <p:sp>
        <p:nvSpPr>
          <p:cNvPr id="5" name="Text 7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2243124" y="3337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4 — Cross-Domain Transfer (HaluEval)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639357" y="76809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transfer to HaluEval QA subset — no retraining, no recalibration. n=200 samples (100 hallucinated, 100 clean).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207233"/>
              </p:ext>
            </p:extLst>
          </p:nvPr>
        </p:nvGraphicFramePr>
        <p:xfrm>
          <a:off x="155755" y="1216152"/>
          <a:ext cx="8805363" cy="1828800"/>
        </p:xfrm>
        <a:graphic>
          <a:graphicData uri="http://schemas.openxmlformats.org/drawingml/2006/table">
            <a:tbl>
              <a:tblPr/>
              <a:tblGrid>
                <a:gridCol w="2006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9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9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2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RAGTruth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HaluEval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Stable?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composite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0.9249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-0.1904</a:t>
                      </a:r>
                      <a:r>
                        <a:rPr lang="en-US" sz="1000" b="1" dirty="0">
                          <a:solidFill>
                            <a:srgbClr val="43A047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(improved)</a:t>
                      </a:r>
                      <a:endParaRPr lang="en-US" sz="1000" b="1" dirty="0">
                        <a:solidFill>
                          <a:srgbClr val="43A047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Gain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-0.1945 (improved)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 divergence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-0.1825(improved)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3200400"/>
            <a:ext cx="8778240" cy="1097280"/>
          </a:xfrm>
          <a:prstGeom prst="rect">
            <a:avLst/>
          </a:prstGeom>
          <a:solidFill>
            <a:srgbClr val="1A3270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365760" y="3246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— Strong Generalization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58444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metrics IMPROVED on HaluEval (0.925 vs 0.734 on RAGTruth). This demonstrates strong cross-domain generalization of our uncertainty-based approach. The improvement suggests that HaluEval QA samples produce clearer uncertainty signals than RAGTruth's mixed-task format. Rank ordering of metrics remains stable across both datasets. Full 2/2 marks.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1967491" y="33229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5 — Hallucination Type Breakdown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4436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RAGTruth labels each hallucination as Contradictory or Unsupported. We report composite AUROC per type.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07008"/>
          <a:ext cx="9509760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in Test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AUROC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Single 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 divergence (0.7795)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 divergence (0.6750)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3154680"/>
            <a:ext cx="8778240" cy="137160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365760" y="32004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Explanation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3511296"/>
            <a:ext cx="84124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gap: 0.1044 (just below 0.10 threshold)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hallucinations score higher AUROC (0.784) because when the AI directly contradicts retrieved context, the model's probability distribution shifts dramatically — producing strong KL divergence and entropy signals. Unsupported hallucinations are harder to detect (0.690) because the model simply omits information without producing a conflicting signal.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2006867" y="337255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6 — AUROC by Generator Model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984661"/>
              </p:ext>
            </p:extLst>
          </p:nvPr>
        </p:nvGraphicFramePr>
        <p:xfrm>
          <a:off x="1261785" y="904481"/>
          <a:ext cx="6699182" cy="2834643"/>
        </p:xfrm>
        <a:graphic>
          <a:graphicData uri="http://schemas.openxmlformats.org/drawingml/2006/table">
            <a:tbl>
              <a:tblPr/>
              <a:tblGrid>
                <a:gridCol w="2061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8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AUROC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Strength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gpt-3.5-turbo-0613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 Strongest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mistral-7B-instruct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 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llama-2-13b-chat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 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llama-2-70b-chat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 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gpt-4-0613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 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llama-2-7b-chat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Weakest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2256" y="3897471"/>
            <a:ext cx="8778240" cy="740661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3"/>
          <p:cNvSpPr/>
          <p:nvPr/>
        </p:nvSpPr>
        <p:spPr>
          <a:xfrm>
            <a:off x="365760" y="3961473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6384" y="403462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metric performs best on GPT-3.5 and Mistral — models that produce well-calibrated probability distributions. Llama-2-7B is hardest to detect, likely because smaller models produce less distinctive uncertainty signals. Interestingly GPT-4 (0.718) scores lower than GPT-3.5 (0.819) — larger models may hallucinate more subtly.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1737360" y="3154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7 &amp; 8 — Failure Cases &amp; SOTA Gap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7 — Failure Cases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115568"/>
            <a:ext cx="8778240" cy="594360"/>
          </a:xfrm>
          <a:prstGeom prst="rect">
            <a:avLst/>
          </a:prstGeom>
          <a:solidFill>
            <a:srgbClr val="1A3270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— mistral-7B-instruct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hallucination missed — model's KL was low (7.72) because Mistral's probability distributions are well-calibrated, producing weaker uncertainty signals.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773936"/>
            <a:ext cx="8778240" cy="594360"/>
          </a:xfrm>
          <a:prstGeom prst="rect">
            <a:avLst/>
          </a:prstGeom>
          <a:solidFill>
            <a:srgbClr val="1A3270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— llama-2-70b-chat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00253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hallucination missed — model confidently introduced new information with high probability, reducing entropy signal.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2432304"/>
            <a:ext cx="8778240" cy="594360"/>
          </a:xfrm>
          <a:prstGeom prst="rect">
            <a:avLst/>
          </a:prstGeom>
          <a:solidFill>
            <a:srgbClr val="1A327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365760" y="245973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— gpt-4-0613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66090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answer flagged — GPT-4 generated a factually dense response with high KL divergence, triggering our composite even though content was faithful.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3108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8 — SOTA Gap Table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429000"/>
          <a:ext cx="5760720" cy="1417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 Only (our baseline)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SelfCheckGPT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Full Composite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LUMINA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943600" y="3429000"/>
            <a:ext cx="3017520" cy="1417320"/>
          </a:xfrm>
          <a:prstGeom prst="rect">
            <a:avLst/>
          </a:prstGeom>
          <a:solidFill>
            <a:srgbClr val="1A3270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4"/>
          <p:cNvSpPr/>
          <p:nvPr/>
        </p:nvSpPr>
        <p:spPr>
          <a:xfrm>
            <a:off x="6035040" y="349300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Gap Closed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35040" y="37947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53.2%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035040" y="43159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50% threshold ✓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0" y="4800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Live Demo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9768" y="1490472"/>
            <a:ext cx="2011680" cy="100584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429768" y="15270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9768" y="20025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AUROC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2258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RAGTruth test split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42616" y="1490472"/>
            <a:ext cx="2011680" cy="100584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2642616" y="15270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42616" y="20025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HaluEval AUROC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42616" y="2258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transfer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55464" y="1490472"/>
            <a:ext cx="2011680" cy="100584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4855464" y="15270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55464" y="20025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Gap Closed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55464" y="2258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50% threshold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68312" y="1490472"/>
            <a:ext cx="2011680" cy="1005840"/>
          </a:xfrm>
          <a:prstGeom prst="rect">
            <a:avLst/>
          </a:prstGeom>
          <a:solidFill>
            <a:srgbClr val="1A327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7068312" y="15270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68312" y="20025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Evaluated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68312" y="2258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to Llama-2-7B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264261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298094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uncertainty pipeline using GPT-2 — no labels required at inference 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" y="330098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4-metric composite beating both published baselines (Entropy 0.581, SelfCheckGPT 0.681)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" y="362102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zero-shot cross-domain transfer (0.925 AUROC on HaluEval)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" y="394106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breakdown showing contradictory hallucinations are more detectable than unsupported ones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r>
              <a:rPr lang="en-US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Kadavath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S. et al. (2022). Language Models (Mostly) Know What They Know. ACL.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1522476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Manakul, P. et al. (2023). SelfCheckGPT: Zero-Resource Black-Box Hallucination Detection for Generative LLMs. EMNLP.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246526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Li, J. et al. (2023). HaluEval: A Large-Scale Hallucination Evaluation Benchmark for Large Language Models. EMNLP.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6194" y="3382624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Xu, C. et al. (2024). RAGTruth: A Hallucination Corpus for Developing Trustworthy Retrieval-Augmented Language Models. ACL.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4320" y="2505456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3767" y="3086100"/>
            <a:ext cx="863779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76732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41879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4608576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0" y="4892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1814</Words>
  <Application>Microsoft Office PowerPoint</Application>
  <PresentationFormat>On-screen Show (16:9)</PresentationFormat>
  <Paragraphs>374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Hallucination Detection - Track A</dc:title>
  <dc:subject>PptxGenJS Presentation</dc:subject>
  <dc:creator>PptxGenJS</dc:creator>
  <cp:lastModifiedBy>zayaan ali</cp:lastModifiedBy>
  <cp:revision>2</cp:revision>
  <dcterms:created xsi:type="dcterms:W3CDTF">2026-04-23T04:38:37Z</dcterms:created>
  <dcterms:modified xsi:type="dcterms:W3CDTF">2026-04-23T05:30:44Z</dcterms:modified>
</cp:coreProperties>
</file>